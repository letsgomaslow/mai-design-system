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1b039163bd04b48" /><Relationship Type="http://schemas.openxmlformats.org/officeDocument/2006/relationships/extended-properties" Target="/docProps/app.xml" Id="Rca9055d077024592" /><Relationship Type="http://schemas.openxmlformats.org/officeDocument/2006/relationships/officeDocument" Target="/ppt/presentation.xml" Id="R15eb2ae8f68f4d7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88d85f4dfe044f5"/>
    <p:sldMasterId xmlns:r="http://schemas.openxmlformats.org/officeDocument/2006/relationships" id="2147483650" r:id="R8da1ba84408a4106"/>
  </p:sldMasterIdLst>
  <p:notesMasterIdLst>
    <p:notesMasterId xmlns:r="http://schemas.openxmlformats.org/officeDocument/2006/relationships" r:id="Ra80f3a1956a14533"/>
  </p:notesMasterIdLst>
  <p:sldIdLst>
    <p:sldId xmlns:r="http://schemas.openxmlformats.org/officeDocument/2006/relationships" id="256" r:id="R35878c1873244602"/>
    <p:sldId xmlns:r="http://schemas.openxmlformats.org/officeDocument/2006/relationships" id="257" r:id="R7e2cc19567e54976"/>
    <p:sldId xmlns:r="http://schemas.openxmlformats.org/officeDocument/2006/relationships" id="258" r:id="R2c852c213f604e26"/>
    <p:sldId xmlns:r="http://schemas.openxmlformats.org/officeDocument/2006/relationships" id="259" r:id="R11e54e18193040d7"/>
    <p:sldId xmlns:r="http://schemas.openxmlformats.org/officeDocument/2006/relationships" id="260" r:id="R5e9d56c59804492a"/>
    <p:sldId xmlns:r="http://schemas.openxmlformats.org/officeDocument/2006/relationships" id="261" r:id="Rd84d692b94c7455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6258d097ab949be" /><Relationship Type="http://schemas.openxmlformats.org/officeDocument/2006/relationships/slideMaster" Target="/ppt/slideMasters/slideMaster1.xml" Id="R788d85f4dfe044f5" /><Relationship Type="http://schemas.openxmlformats.org/officeDocument/2006/relationships/slideMaster" Target="/ppt/slideMasters/slideMaster2.xml" Id="R8da1ba84408a4106" /><Relationship Type="http://schemas.openxmlformats.org/officeDocument/2006/relationships/notesMaster" Target="/ppt/notesMasters/notesMaster1.xml" Id="Ra80f3a1956a14533" /><Relationship Type="http://schemas.openxmlformats.org/officeDocument/2006/relationships/presProps" Target="/ppt/presProps.xml" Id="R505a2f4680064651" /><Relationship Type="http://schemas.openxmlformats.org/officeDocument/2006/relationships/tableStyles" Target="/ppt/tableStyles.xml" Id="R14bae8a6d3ae4595" /><Relationship Type="http://schemas.openxmlformats.org/officeDocument/2006/relationships/slide" Target="/ppt/slides/slide1.xml" Id="R35878c1873244602" /><Relationship Type="http://schemas.openxmlformats.org/officeDocument/2006/relationships/slide" Target="/ppt/slides/slide2.xml" Id="R7e2cc19567e54976" /><Relationship Type="http://schemas.openxmlformats.org/officeDocument/2006/relationships/slide" Target="/ppt/slides/slide3.xml" Id="R2c852c213f604e26" /><Relationship Type="http://schemas.openxmlformats.org/officeDocument/2006/relationships/slide" Target="/ppt/slides/slide4.xml" Id="R11e54e18193040d7" /><Relationship Type="http://schemas.openxmlformats.org/officeDocument/2006/relationships/slide" Target="/ppt/slides/slide5.xml" Id="R5e9d56c59804492a" /><Relationship Type="http://schemas.openxmlformats.org/officeDocument/2006/relationships/slide" Target="/ppt/slides/slide6.xml" Id="Rd84d692b94c7455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293e0c3caedd4f8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ChatGPT">
  <a:themeElements>
    <a:clrScheme name="Maslow Brand OS 1.0.0">
      <a:dk1>
        <a:srgbClr val="333333"/>
      </a:dk1>
      <a:lt1>
        <a:srgbClr val="FFFFFF"/>
      </a:lt1>
      <a:dk2>
        <a:srgbClr val="121D35"/>
      </a:dk2>
      <a:lt2>
        <a:srgbClr val="E1E1E1"/>
      </a:lt2>
      <a:accent1>
        <a:srgbClr val="192332"/>
      </a:accent1>
      <a:accent2>
        <a:srgbClr val="73C1AE"/>
      </a:accent2>
      <a:accent3>
        <a:srgbClr val="654C8F"/>
      </a:accent3>
      <a:accent4>
        <a:srgbClr val="EBA93D"/>
      </a:accent4>
      <a:accent5>
        <a:srgbClr val="EE7BB3"/>
      </a:accent5>
      <a:accent6>
        <a:srgbClr val="FFF860"/>
      </a:accent6>
      <a:hlink>
        <a:srgbClr val="9D4B8E"/>
      </a:hlink>
      <a:folHlink>
        <a:srgbClr val="654C8F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Maslow Brand OS 1.0.0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5f54431bfc145d8" /><Relationship Type="http://schemas.openxmlformats.org/officeDocument/2006/relationships/notesMaster" Target="/ppt/notesMasters/notesMaster1.xml" Id="R610c22a1c39c433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1d94b33f5a246a2" /><Relationship Type="http://schemas.openxmlformats.org/officeDocument/2006/relationships/notesMaster" Target="/ppt/notesMasters/notesMaster1.xml" Id="Ra2b2b6dbb064406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39035ff7648452f" /><Relationship Type="http://schemas.openxmlformats.org/officeDocument/2006/relationships/notesMaster" Target="/ppt/notesMasters/notesMaster1.xml" Id="R7ac91dfc92e745d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1c929c404044093" /><Relationship Type="http://schemas.openxmlformats.org/officeDocument/2006/relationships/notesMaster" Target="/ppt/notesMasters/notesMaster1.xml" Id="Re0fd63b937f842c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4ea9f4eb9e04fc8" /><Relationship Type="http://schemas.openxmlformats.org/officeDocument/2006/relationships/notesMaster" Target="/ppt/notesMasters/notesMaster1.xml" Id="R21174a2dc4bc44c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e4d60c950bd4da0" /><Relationship Type="http://schemas.openxmlformats.org/officeDocument/2006/relationships/notesMaster" Target="/ppt/notesMasters/notesMaster1.xml" Id="R42d9e825df00442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Layout 01 Title. Replace all variables. Keep the external position intact unless an approved campaign brief requires a narrower headline.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Layout 02 Section. The pink rule is a small signal. Keep all readable text in navy, white, teal, or accessible purple.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Layout 03 Content. Each row names the waiting workflow, responsible owner, and deliverable. Keep one communication job on the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Layout 04 Evidence. Every claim requires production, modeled, illustrative, or in_preparation plus a source. Put longer provenance here in speaker notes.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Layout 05 Quote. Do not release an unsourced quote. If the quote is an illustrative writing pattern, label it illustrative on the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Layout 06 Closing. End on one explicit next action. The action is navy on white; pink remains a small signal.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abc2af12bd4f6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2599e50e5d64e2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0f8aca11e6646f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c649343c62449b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1ca0decc1034dd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57af74ab37b457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cd49ebfe56a435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>
  <p:cSld name="01 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01 Title background">
            <a:extLst xmlns:a="http://schemas.openxmlformats.org/drawingml/2006/main">
              <a:ext uri="{FF2B5EF4-FFF2-40B4-BE49-F238E27FC236}">
                <a16:creationId xmlns:a16="http://schemas.microsoft.com/office/drawing/2014/main" id="{05A37D30-40E0-4E3B-99CE-B5FD04BB4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D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01 Title title 0">
            <a:extLst xmlns:a="http://schemas.openxmlformats.org/drawingml/2006/main">
              <a:ext uri="{FF2B5EF4-FFF2-40B4-BE49-F238E27FC236}">
                <a16:creationId xmlns:a16="http://schemas.microsoft.com/office/drawing/2014/main" id="{E7A3547E-76EC-400F-8959-D701E6DB83A2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876300" y="2571750"/>
            <a:ext cx="9715500" cy="20955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MASLOW WORKFLOW BRIEF</a:t>
            </a:r>
          </a:p>
        </p:txBody>
      </p:sp>
      <p:sp>
        <p:nvSpPr>
          <p:cNvPr id="4" name="01 Title subtitle 0">
            <a:extLst xmlns:a="http://schemas.openxmlformats.org/drawingml/2006/main">
              <a:ext uri="{FF2B5EF4-FFF2-40B4-BE49-F238E27FC236}">
                <a16:creationId xmlns:a16="http://schemas.microsoft.com/office/drawing/2014/main" id="{793A63C9-DB6B-4362-B5E1-A4B9BD658E3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76300" y="4876800"/>
            <a:ext cx="8572500" cy="6667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ILLUSTRATIVE BLIND-BUILD SAMPLE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>
  <p:cSld name="02 Sec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02 Section background">
            <a:extLst xmlns:a="http://schemas.openxmlformats.org/drawingml/2006/main">
              <a:ext uri="{FF2B5EF4-FFF2-40B4-BE49-F238E27FC236}">
                <a16:creationId xmlns:a16="http://schemas.microsoft.com/office/drawing/2014/main" id="{3D16892E-551C-4D31-9A74-003F96BBB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D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02 Section title 0">
            <a:extLst xmlns:a="http://schemas.openxmlformats.org/drawingml/2006/main">
              <a:ext uri="{FF2B5EF4-FFF2-40B4-BE49-F238E27FC236}">
                <a16:creationId xmlns:a16="http://schemas.microsoft.com/office/drawing/2014/main" id="{7CC34B9B-0C69-47E8-B7E9-F91433DB8FFB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876300" y="4095750"/>
            <a:ext cx="9048750" cy="12382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MASLOW WORKFLOW BRIEF</a:t>
            </a:r>
          </a:p>
        </p:txBody>
      </p:sp>
      <p:sp>
        <p:nvSpPr>
          <p:cNvPr id="4" name="02 Section subtitle 0">
            <a:extLst xmlns:a="http://schemas.openxmlformats.org/drawingml/2006/main">
              <a:ext uri="{FF2B5EF4-FFF2-40B4-BE49-F238E27FC236}">
                <a16:creationId xmlns:a16="http://schemas.microsoft.com/office/drawing/2014/main" id="{FB514B1D-F4B8-4847-8F1A-CA42E347F5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76300" y="3676650"/>
            <a:ext cx="6191250" cy="3238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ILLUSTRATIVE BLIND-BUILD SAMPLE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>
  <p:cSld name="03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03 Content background">
            <a:extLst xmlns:a="http://schemas.openxmlformats.org/drawingml/2006/main">
              <a:ext uri="{FF2B5EF4-FFF2-40B4-BE49-F238E27FC236}">
                <a16:creationId xmlns:a16="http://schemas.microsoft.com/office/drawing/2014/main" id="{7ED3B95D-8FE7-4968-B712-FE708CDD0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03 Content title 0">
            <a:extLst xmlns:a="http://schemas.openxmlformats.org/drawingml/2006/main">
              <a:ext uri="{FF2B5EF4-FFF2-40B4-BE49-F238E27FC236}">
                <a16:creationId xmlns:a16="http://schemas.microsoft.com/office/drawing/2014/main" id="{72BC0AA3-4ED9-4D71-985F-71B9BDC08780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876300" y="971550"/>
            <a:ext cx="9810750" cy="7810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MASLOW WORKFLOW BRIEF</a:t>
            </a:r>
          </a:p>
        </p:txBody>
      </p:sp>
      <p:sp>
        <p:nvSpPr>
          <p:cNvPr id="4" name="03 Content body 0">
            <a:extLst xmlns:a="http://schemas.openxmlformats.org/drawingml/2006/main">
              <a:ext uri="{FF2B5EF4-FFF2-40B4-BE49-F238E27FC236}">
                <a16:creationId xmlns:a16="http://schemas.microsoft.com/office/drawing/2014/main" id="{A7324F3D-274C-41C9-B338-854BE681687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76300" y="2000250"/>
            <a:ext cx="9810750" cy="3429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Replace this layout placeholder when authoring a new slide.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>
  <p:cSld name="04 Evidenc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04 Evidence background">
            <a:extLst xmlns:a="http://schemas.openxmlformats.org/drawingml/2006/main">
              <a:ext uri="{FF2B5EF4-FFF2-40B4-BE49-F238E27FC236}">
                <a16:creationId xmlns:a16="http://schemas.microsoft.com/office/drawing/2014/main" id="{E9C31031-3E0C-4130-8043-984E7903A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D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04 Evidence title 0">
            <a:extLst xmlns:a="http://schemas.openxmlformats.org/drawingml/2006/main">
              <a:ext uri="{FF2B5EF4-FFF2-40B4-BE49-F238E27FC236}">
                <a16:creationId xmlns:a16="http://schemas.microsoft.com/office/drawing/2014/main" id="{C146698E-ACAA-4943-A3E5-1315D955BE34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876300" y="971550"/>
            <a:ext cx="9810750" cy="7810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MASLOW WORKFLOW BRIEF</a:t>
            </a:r>
          </a:p>
        </p:txBody>
      </p:sp>
      <p:sp>
        <p:nvSpPr>
          <p:cNvPr id="4" name="04 Evidence body 0">
            <a:extLst xmlns:a="http://schemas.openxmlformats.org/drawingml/2006/main">
              <a:ext uri="{FF2B5EF4-FFF2-40B4-BE49-F238E27FC236}">
                <a16:creationId xmlns:a16="http://schemas.microsoft.com/office/drawing/2014/main" id="{E0005D27-DB61-4F49-9C44-234E5D42338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76300" y="2190750"/>
            <a:ext cx="9810750" cy="31432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Replace this layout placeholder when authoring a new slide.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>
  <p:cSld name="05 Quot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05 Quote background">
            <a:extLst xmlns:a="http://schemas.openxmlformats.org/drawingml/2006/main">
              <a:ext uri="{FF2B5EF4-FFF2-40B4-BE49-F238E27FC236}">
                <a16:creationId xmlns:a16="http://schemas.microsoft.com/office/drawing/2014/main" id="{19DCFB01-1575-4792-A813-E72F8E0C3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05 Quote title 0">
            <a:extLst xmlns:a="http://schemas.openxmlformats.org/drawingml/2006/main">
              <a:ext uri="{FF2B5EF4-FFF2-40B4-BE49-F238E27FC236}">
                <a16:creationId xmlns:a16="http://schemas.microsoft.com/office/drawing/2014/main" id="{85D59962-CE85-42B3-9C4B-EFDD25E041F8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1238250" y="2190750"/>
            <a:ext cx="9525000" cy="21907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MASLOW WORKFLOW BRIEF</a:t>
            </a:r>
          </a:p>
        </p:txBody>
      </p:sp>
      <p:sp>
        <p:nvSpPr>
          <p:cNvPr id="4" name="05 Quote subtitle 0">
            <a:extLst xmlns:a="http://schemas.openxmlformats.org/drawingml/2006/main">
              <a:ext uri="{FF2B5EF4-FFF2-40B4-BE49-F238E27FC236}">
                <a16:creationId xmlns:a16="http://schemas.microsoft.com/office/drawing/2014/main" id="{29222345-0504-4777-878F-9FB257E0500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38250" y="4667250"/>
            <a:ext cx="8572500" cy="6667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ILLUSTRATIVE BLIND-BUILD SAMPLE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>
  <p:cSld name="06 Closing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06 Closing background">
            <a:extLst xmlns:a="http://schemas.openxmlformats.org/drawingml/2006/main">
              <a:ext uri="{FF2B5EF4-FFF2-40B4-BE49-F238E27FC236}">
                <a16:creationId xmlns:a16="http://schemas.microsoft.com/office/drawing/2014/main" id="{F181ABC6-0040-4A0E-9A70-A660456DE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06 Closing title 0">
            <a:extLst xmlns:a="http://schemas.openxmlformats.org/drawingml/2006/main">
              <a:ext uri="{FF2B5EF4-FFF2-40B4-BE49-F238E27FC236}">
                <a16:creationId xmlns:a16="http://schemas.microsoft.com/office/drawing/2014/main" id="{4ACD1FD7-AB90-41A3-9A70-827F7F65E693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876300" y="2095500"/>
            <a:ext cx="9715500" cy="16192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MASLOW WORKFLOW BRIEF</a:t>
            </a:r>
          </a:p>
        </p:txBody>
      </p:sp>
      <p:sp>
        <p:nvSpPr>
          <p:cNvPr id="4" name="06 Closing subtitle 0">
            <a:extLst xmlns:a="http://schemas.openxmlformats.org/drawingml/2006/main">
              <a:ext uri="{FF2B5EF4-FFF2-40B4-BE49-F238E27FC236}">
                <a16:creationId xmlns:a16="http://schemas.microsoft.com/office/drawing/2014/main" id="{749EEF43-EA17-4A9B-9CBB-247833D4FCB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76300" y="4095750"/>
            <a:ext cx="6667500" cy="7048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ILLUSTRATIVE BLIND-BUILD SAMPLE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f8efd8ff056425d" /><Relationship Type="http://schemas.openxmlformats.org/officeDocument/2006/relationships/slideLayout" Target="/ppt/slideLayouts/slideLayout1.xml" Id="R73bab002624943bf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f43a310ca66e4c3c" /><Relationship Type="http://schemas.openxmlformats.org/officeDocument/2006/relationships/slideLayout" Target="/ppt/slideLayouts/slideLayout2.xml" Id="R7c5c4fe2533940cc" /><Relationship Type="http://schemas.openxmlformats.org/officeDocument/2006/relationships/slideLayout" Target="/ppt/slideLayouts/slideLayout3.xml" Id="R63a7d4fef0854b33" /><Relationship Type="http://schemas.openxmlformats.org/officeDocument/2006/relationships/slideLayout" Target="/ppt/slideLayouts/slideLayout4.xml" Id="Rb37fa3a30cf048fa" /><Relationship Type="http://schemas.openxmlformats.org/officeDocument/2006/relationships/slideLayout" Target="/ppt/slideLayouts/slideLayout5.xml" Id="R281aa6c221bd4334" /><Relationship Type="http://schemas.openxmlformats.org/officeDocument/2006/relationships/slideLayout" Target="/ppt/slideLayouts/slideLayout6.xml" Id="Rf103ff121b5e4b69" /><Relationship Type="http://schemas.openxmlformats.org/officeDocument/2006/relationships/slideLayout" Target="/ppt/slideLayouts/slideLayout7.xml" Id="Rd1a5a2b0305248a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3bab002624943b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Maslow Brand Master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1" r:id="R7c5c4fe2533940cc"/>
    <p:sldLayoutId xmlns:r="http://schemas.openxmlformats.org/officeDocument/2006/relationships" id="2147483652" r:id="R63a7d4fef0854b33"/>
    <p:sldLayoutId xmlns:r="http://schemas.openxmlformats.org/officeDocument/2006/relationships" id="2147483653" r:id="Rb37fa3a30cf048fa"/>
    <p:sldLayoutId xmlns:r="http://schemas.openxmlformats.org/officeDocument/2006/relationships" id="2147483654" r:id="R281aa6c221bd4334"/>
    <p:sldLayoutId xmlns:r="http://schemas.openxmlformats.org/officeDocument/2006/relationships" id="2147483655" r:id="Rf103ff121b5e4b69"/>
    <p:sldLayoutId xmlns:r="http://schemas.openxmlformats.org/officeDocument/2006/relationships" id="2147483656" r:id="Rd1a5a2b0305248ab"/>
  </p:sldLayoutIdLst>
</p:sldMaster>
</file>

<file path=ppt/slideMasters/theme/theme2.xml><?xml version="1.0" encoding="utf-8"?>
<a:theme xmlns:a="http://schemas.openxmlformats.org/drawingml/2006/main" name="ChatGPT">
  <a:themeElements>
    <a:clrScheme name="Maslow Brand OS 1.0.0">
      <a:dk1>
        <a:srgbClr val="333333"/>
      </a:dk1>
      <a:lt1>
        <a:srgbClr val="FFFFFF"/>
      </a:lt1>
      <a:dk2>
        <a:srgbClr val="121D35"/>
      </a:dk2>
      <a:lt2>
        <a:srgbClr val="E1E1E1"/>
      </a:lt2>
      <a:accent1>
        <a:srgbClr val="192332"/>
      </a:accent1>
      <a:accent2>
        <a:srgbClr val="73C1AE"/>
      </a:accent2>
      <a:accent3>
        <a:srgbClr val="654C8F"/>
      </a:accent3>
      <a:accent4>
        <a:srgbClr val="EBA93D"/>
      </a:accent4>
      <a:accent5>
        <a:srgbClr val="EE7BB3"/>
      </a:accent5>
      <a:accent6>
        <a:srgbClr val="FFF860"/>
      </a:accent6>
      <a:hlink>
        <a:srgbClr val="9D4B8E"/>
      </a:hlink>
      <a:folHlink>
        <a:srgbClr val="654C8F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Maslow Brand OS 1.0.0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ChatGPT">
  <a:themeElements>
    <a:clrScheme name="Maslow Brand OS 1.0.0">
      <a:dk1>
        <a:srgbClr val="333333"/>
      </a:dk1>
      <a:lt1>
        <a:srgbClr val="FFFFFF"/>
      </a:lt1>
      <a:dk2>
        <a:srgbClr val="121D35"/>
      </a:dk2>
      <a:lt2>
        <a:srgbClr val="E1E1E1"/>
      </a:lt2>
      <a:accent1>
        <a:srgbClr val="192332"/>
      </a:accent1>
      <a:accent2>
        <a:srgbClr val="73C1AE"/>
      </a:accent2>
      <a:accent3>
        <a:srgbClr val="654C8F"/>
      </a:accent3>
      <a:accent4>
        <a:srgbClr val="EBA93D"/>
      </a:accent4>
      <a:accent5>
        <a:srgbClr val="EE7BB3"/>
      </a:accent5>
      <a:accent6>
        <a:srgbClr val="FFF860"/>
      </a:accent6>
      <a:hlink>
        <a:srgbClr val="9D4B8E"/>
      </a:hlink>
      <a:folHlink>
        <a:srgbClr val="654C8F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Maslow Brand OS 1.0.0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6db6a25a72e483b" /><Relationship Type="http://schemas.openxmlformats.org/officeDocument/2006/relationships/image" Target="/ppt/media/image.png" Id="R1a2b23f0e6744639" /><Relationship Type="http://schemas.openxmlformats.org/officeDocument/2006/relationships/notesSlide" Target="/ppt/notesSlides/notesSlide1.xml" Id="R11ba5eec51d2429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41116e3bcb54e80" /><Relationship Type="http://schemas.openxmlformats.org/officeDocument/2006/relationships/notesSlide" Target="/ppt/notesSlides/notesSlide2.xml" Id="R0dd15f3cb975448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033a069f110142f9" /><Relationship Type="http://schemas.openxmlformats.org/officeDocument/2006/relationships/notesSlide" Target="/ppt/notesSlides/notesSlide3.xml" Id="R5065ecd03ef0412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f23776c3a2cf4bba" /><Relationship Type="http://schemas.openxmlformats.org/officeDocument/2006/relationships/notesSlide" Target="/ppt/notesSlides/notesSlide4.xml" Id="R7acab3290aa94a7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20389c88794545" /><Relationship Type="http://schemas.openxmlformats.org/officeDocument/2006/relationships/notesSlide" Target="/ppt/notesSlides/notesSlide5.xml" Id="Rbc51a763ea4e45d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3bca028da0f4a63" /><Relationship Type="http://schemas.openxmlformats.org/officeDocument/2006/relationships/image" Target="/ppt/media/image2.png" Id="Rb0ed114441fe4953" /><Relationship Type="http://schemas.openxmlformats.org/officeDocument/2006/relationships/notesSlide" Target="/ppt/notesSlides/notesSlide6.xml" Id="Ra7a7f5fff71440a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1D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Maslow AI mark" title="Maslow AI mark in white" descr="Maslow AI mark in whit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2b23f0e6744639"/>
          <a:stretch xmlns:a="http://schemas.openxmlformats.org/drawingml/2006/main"/>
        </p:blipFill>
        <p:spPr>
          <a:xfrm xmlns:a="http://schemas.openxmlformats.org/drawingml/2006/main">
            <a:off x="876300" y="556016"/>
            <a:ext cx="876300" cy="583419"/>
          </a:xfrm>
          <a:prstGeom xmlns:a="http://schemas.openxmlformats.org/drawingml/2006/main" prst="rect">
            <a:avLst/>
          </a:prstGeom>
        </p:spPr>
      </p:pic>
      <p:sp>
        <p:nvSpPr>
          <p:cNvPr id="2" name="logo-label-dark">
            <a:extLst xmlns:a="http://schemas.openxmlformats.org/drawingml/2006/main">
              <a:ext uri="{FF2B5EF4-FFF2-40B4-BE49-F238E27FC236}">
                <a16:creationId xmlns:a16="http://schemas.microsoft.com/office/drawing/2014/main" id="{E44AE119-EDAE-467A-AA66-39106CCBF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7048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IBM Plex Mono"/>
              </a:defRPr>
            </a:pPr>
            <a:r>
              <a:rPr sz="900" b="1">
                <a:solidFill>
                  <a:srgbClr val="FFFFFF"/>
                </a:solidFill>
                <a:latin typeface="IBM Plex Mono"/>
              </a:rPr>
              <a:t>MASLOW AI</a:t>
            </a:r>
          </a:p>
        </p:txBody>
      </p:sp>
      <p:sp>
        <p:nvSpPr>
          <p:cNvPr id="3" name="title-eyebrow">
            <a:extLst xmlns:a="http://schemas.openxmlformats.org/drawingml/2006/main">
              <a:ext uri="{FF2B5EF4-FFF2-40B4-BE49-F238E27FC236}">
                <a16:creationId xmlns:a16="http://schemas.microsoft.com/office/drawing/2014/main" id="{A7CD996C-8D26-4B57-9CFA-205E29284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73C1AE"/>
                </a:solidFill>
                <a:latin typeface="IBM Plex Mono"/>
              </a:defRPr>
            </a:pPr>
            <a:r>
              <a:rPr sz="1125" b="1">
                <a:solidFill>
                  <a:srgbClr val="73C1AE"/>
                </a:solidFill>
                <a:latin typeface="IBM Plex Mono"/>
              </a:rPr>
              <a:t>WORKFLOW BRIEF · OPERATIONS LEADERS</a:t>
            </a:r>
          </a:p>
        </p:txBody>
      </p:sp>
      <p:sp>
        <p:nvSpPr>
          <p:cNvPr id="4" name="title-heading">
            <a:extLst xmlns:a="http://schemas.openxmlformats.org/drawingml/2006/main">
              <a:ext uri="{FF2B5EF4-FFF2-40B4-BE49-F238E27FC236}">
                <a16:creationId xmlns:a16="http://schemas.microsoft.com/office/drawing/2014/main" id="{480E5C9D-FE82-4F2C-8063-D5A5B9022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99060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Manrope"/>
              </a:defRPr>
            </a:pPr>
            <a:r>
              <a:rPr sz="4350" b="1">
                <a:solidFill>
                  <a:srgbClr val="FFFFFF"/>
                </a:solidFill>
                <a:latin typeface="Manrope"/>
              </a:rPr>
              <a:t>AI employees for the work that waits</a:t>
            </a:r>
          </a:p>
        </p:txBody>
      </p:sp>
      <p:sp>
        <p:nvSpPr>
          <p:cNvPr id="5" name="title-subtitle">
            <a:extLst xmlns:a="http://schemas.openxmlformats.org/drawingml/2006/main">
              <a:ext uri="{FF2B5EF4-FFF2-40B4-BE49-F238E27FC236}">
                <a16:creationId xmlns:a16="http://schemas.microsoft.com/office/drawing/2014/main" id="{62BFC0EC-30DE-4C9F-950F-8827A3A44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53000"/>
            <a:ext cx="800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B8C4D9"/>
                </a:solidFill>
                <a:latin typeface="Manrope"/>
              </a:defRPr>
            </a:pPr>
            <a:r>
              <a:rPr sz="1500">
                <a:solidFill>
                  <a:srgbClr val="B8C4D9"/>
                </a:solidFill>
                <a:latin typeface="Manrope"/>
              </a:rPr>
              <a:t>MASLOW AI · ILLUSTRATIVE WORKING SESSION</a:t>
            </a:r>
          </a:p>
        </p:txBody>
      </p:sp>
    </p:spTree>
    <p:extLst>
      <p:ext uri="{BB962C8B-B14F-4D97-AF65-F5344CB8AC3E}">
        <p14:creationId xmlns:p14="http://schemas.microsoft.com/office/powerpoint/2010/main" val="10223510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21D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ection-step-marker">
            <a:extLst xmlns:a="http://schemas.openxmlformats.org/drawingml/2006/main">
              <a:ext uri="{FF2B5EF4-FFF2-40B4-BE49-F238E27FC236}">
                <a16:creationId xmlns:a16="http://schemas.microsoft.com/office/drawing/2014/main" id="{28710129-1C75-473A-ACC4-5D4239197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71500"/>
            <a:ext cx="2381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900" b="1">
                <a:solidFill>
                  <a:srgbClr val="73C1AE"/>
                </a:solidFill>
                <a:latin typeface="Manrope"/>
              </a:defRPr>
            </a:pPr>
            <a:r>
              <a:rPr sz="9900" b="1">
                <a:solidFill>
                  <a:srgbClr val="73C1AE"/>
                </a:solidFill>
                <a:latin typeface="Manrope"/>
              </a:rPr>
              <a:t>02</a:t>
            </a:r>
          </a:p>
        </p:txBody>
      </p:sp>
      <p:sp>
        <p:nvSpPr>
          <p:cNvPr id="2" name="section-eyebrow">
            <a:extLst xmlns:a="http://schemas.openxmlformats.org/drawingml/2006/main">
              <a:ext uri="{FF2B5EF4-FFF2-40B4-BE49-F238E27FC236}">
                <a16:creationId xmlns:a16="http://schemas.microsoft.com/office/drawing/2014/main" id="{1AA277C5-A3B5-495A-BDF4-444E9B7BF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9570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73C1AE"/>
                </a:solidFill>
                <a:latin typeface="IBM Plex Mono"/>
              </a:defRPr>
            </a:pPr>
            <a:r>
              <a:rPr sz="1125" b="1">
                <a:solidFill>
                  <a:srgbClr val="73C1AE"/>
                </a:solidFill>
                <a:latin typeface="IBM Plex Mono"/>
              </a:rPr>
              <a:t>OWNERSHIP</a:t>
            </a:r>
          </a:p>
        </p:txBody>
      </p:sp>
      <p:sp>
        <p:nvSpPr>
          <p:cNvPr id="3" name="section-heading">
            <a:extLst xmlns:a="http://schemas.openxmlformats.org/drawingml/2006/main">
              <a:ext uri="{FF2B5EF4-FFF2-40B4-BE49-F238E27FC236}">
                <a16:creationId xmlns:a16="http://schemas.microsoft.com/office/drawing/2014/main" id="{BC192E49-7DB2-4B36-B698-08D01FD2E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71950"/>
            <a:ext cx="9144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Manrope"/>
              </a:defRPr>
            </a:pPr>
            <a:r>
              <a:rPr sz="3900" b="1">
                <a:solidFill>
                  <a:srgbClr val="FFFFFF"/>
                </a:solidFill>
                <a:latin typeface="Manrope"/>
              </a:rPr>
              <a:t>Define the work and the decision</a:t>
            </a:r>
          </a:p>
        </p:txBody>
      </p:sp>
      <p:sp>
        <p:nvSpPr>
          <p:cNvPr id="4" name="section-signal">
            <a:extLst xmlns:a="http://schemas.openxmlformats.org/drawingml/2006/main">
              <a:ext uri="{FF2B5EF4-FFF2-40B4-BE49-F238E27FC236}">
                <a16:creationId xmlns:a16="http://schemas.microsoft.com/office/drawing/2014/main" id="{7744FDB6-D569-4EC6-8D51-4345DC0E7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626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7BB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0617868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content-eyebrow">
            <a:extLst xmlns:a="http://schemas.openxmlformats.org/drawingml/2006/main">
              <a:ext uri="{FF2B5EF4-FFF2-40B4-BE49-F238E27FC236}">
                <a16:creationId xmlns:a16="http://schemas.microsoft.com/office/drawing/2014/main" id="{6B79EFDE-E178-4057-B4F6-240D34E99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54C8F"/>
                </a:solidFill>
                <a:latin typeface="IBM Plex Mono"/>
              </a:defRPr>
            </a:pPr>
            <a:r>
              <a:rPr sz="975" b="1">
                <a:solidFill>
                  <a:srgbClr val="654C8F"/>
                </a:solidFill>
                <a:latin typeface="IBM Plex Mono"/>
              </a:rPr>
              <a:t>01 · OWNERSHIP</a:t>
            </a:r>
          </a:p>
        </p:txBody>
      </p:sp>
      <p:sp>
        <p:nvSpPr>
          <p:cNvPr id="2" name="content-heading">
            <a:extLst xmlns:a="http://schemas.openxmlformats.org/drawingml/2006/main">
              <a:ext uri="{FF2B5EF4-FFF2-40B4-BE49-F238E27FC236}">
                <a16:creationId xmlns:a16="http://schemas.microsoft.com/office/drawing/2014/main" id="{6142708F-7DE2-487E-B670-CF782C3BB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90600"/>
            <a:ext cx="9810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92332"/>
                </a:solidFill>
                <a:latin typeface="Manrope"/>
              </a:defRPr>
            </a:pPr>
            <a:r>
              <a:rPr sz="3000" b="1">
                <a:solidFill>
                  <a:srgbClr val="192332"/>
                </a:solidFill>
                <a:latin typeface="Manrope"/>
              </a:rPr>
              <a:t>Workflow ownership and evidence</a:t>
            </a:r>
          </a:p>
        </p:txBody>
      </p:sp>
      <p:sp>
        <p:nvSpPr>
          <p:cNvPr id="3" name="content-top-rule">
            <a:extLst xmlns:a="http://schemas.openxmlformats.org/drawingml/2006/main">
              <a:ext uri="{FF2B5EF4-FFF2-40B4-BE49-F238E27FC236}">
                <a16:creationId xmlns:a16="http://schemas.microsoft.com/office/drawing/2014/main" id="{204BF55C-FDD5-4DB0-9F53-25CAC5D03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10439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3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ntent-row-01-number">
            <a:extLst xmlns:a="http://schemas.openxmlformats.org/drawingml/2006/main">
              <a:ext uri="{FF2B5EF4-FFF2-40B4-BE49-F238E27FC236}">
                <a16:creationId xmlns:a16="http://schemas.microsoft.com/office/drawing/2014/main" id="{A8285E33-054B-4578-A22E-258C3A9DA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0980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3C1AE"/>
                </a:solidFill>
                <a:latin typeface="Manrope"/>
              </a:defRPr>
            </a:pPr>
            <a:r>
              <a:rPr sz="1350" b="1">
                <a:solidFill>
                  <a:srgbClr val="73C1AE"/>
                </a:solidFill>
                <a:latin typeface="Manrope"/>
              </a:rPr>
              <a:t>01</a:t>
            </a:r>
          </a:p>
        </p:txBody>
      </p:sp>
      <p:sp>
        <p:nvSpPr>
          <p:cNvPr id="5" name="content-row-01-heading">
            <a:extLst xmlns:a="http://schemas.openxmlformats.org/drawingml/2006/main">
              <a:ext uri="{FF2B5EF4-FFF2-40B4-BE49-F238E27FC236}">
                <a16:creationId xmlns:a16="http://schemas.microsoft.com/office/drawing/2014/main" id="{2D0EFA7B-9F63-41C6-BAF5-E2AF160B1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209800"/>
            <a:ext cx="352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92332"/>
                </a:solidFill>
                <a:latin typeface="Manrope"/>
              </a:defRPr>
            </a:pPr>
            <a:r>
              <a:rPr sz="1650" b="1">
                <a:solidFill>
                  <a:srgbClr val="192332"/>
                </a:solidFill>
                <a:latin typeface="Manrope"/>
              </a:rPr>
              <a:t>Intake and triage</a:t>
            </a:r>
          </a:p>
        </p:txBody>
      </p:sp>
      <p:sp>
        <p:nvSpPr>
          <p:cNvPr id="6" name="content-row-01-body">
            <a:extLst xmlns:a="http://schemas.openxmlformats.org/drawingml/2006/main">
              <a:ext uri="{FF2B5EF4-FFF2-40B4-BE49-F238E27FC236}">
                <a16:creationId xmlns:a16="http://schemas.microsoft.com/office/drawing/2014/main" id="{74B7F650-D3EE-4B94-AD85-7B99795EA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09800"/>
            <a:ext cx="5791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Manrope"/>
              </a:defRPr>
            </a:pPr>
            <a:r>
              <a:rPr sz="1350">
                <a:solidFill>
                  <a:srgbClr val="666666"/>
                </a:solidFill>
                <a:latin typeface="Manrope"/>
              </a:rPr>
              <a:t>Operations owns a prioritized queue.</a:t>
            </a:r>
          </a:p>
        </p:txBody>
      </p:sp>
      <p:sp>
        <p:nvSpPr>
          <p:cNvPr id="7" name="content-row-01-rule">
            <a:extLst xmlns:a="http://schemas.openxmlformats.org/drawingml/2006/main">
              <a:ext uri="{FF2B5EF4-FFF2-40B4-BE49-F238E27FC236}">
                <a16:creationId xmlns:a16="http://schemas.microsoft.com/office/drawing/2014/main" id="{D6C9F527-233E-40A5-A897-8DD580D2C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051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1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ontent-row-02-number">
            <a:extLst xmlns:a="http://schemas.openxmlformats.org/drawingml/2006/main">
              <a:ext uri="{FF2B5EF4-FFF2-40B4-BE49-F238E27FC236}">
                <a16:creationId xmlns:a16="http://schemas.microsoft.com/office/drawing/2014/main" id="{9B8FFBBA-8233-4F4A-A4DA-A7605EF07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3C1AE"/>
                </a:solidFill>
                <a:latin typeface="Manrope"/>
              </a:defRPr>
            </a:pPr>
            <a:r>
              <a:rPr sz="1350" b="1">
                <a:solidFill>
                  <a:srgbClr val="73C1AE"/>
                </a:solidFill>
                <a:latin typeface="Manrope"/>
              </a:rPr>
              <a:t>02</a:t>
            </a:r>
          </a:p>
        </p:txBody>
      </p:sp>
      <p:sp>
        <p:nvSpPr>
          <p:cNvPr id="9" name="content-row-02-heading">
            <a:extLst xmlns:a="http://schemas.openxmlformats.org/drawingml/2006/main">
              <a:ext uri="{FF2B5EF4-FFF2-40B4-BE49-F238E27FC236}">
                <a16:creationId xmlns:a16="http://schemas.microsoft.com/office/drawing/2014/main" id="{E823F300-4772-4900-B5CF-2BE2EDD49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429000"/>
            <a:ext cx="352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92332"/>
                </a:solidFill>
                <a:latin typeface="Manrope"/>
              </a:defRPr>
            </a:pPr>
            <a:r>
              <a:rPr sz="1650" b="1">
                <a:solidFill>
                  <a:srgbClr val="192332"/>
                </a:solidFill>
                <a:latin typeface="Manrope"/>
              </a:rPr>
              <a:t>Decision preparation</a:t>
            </a:r>
          </a:p>
        </p:txBody>
      </p:sp>
      <p:sp>
        <p:nvSpPr>
          <p:cNvPr id="10" name="content-row-02-body">
            <a:extLst xmlns:a="http://schemas.openxmlformats.org/drawingml/2006/main">
              <a:ext uri="{FF2B5EF4-FFF2-40B4-BE49-F238E27FC236}">
                <a16:creationId xmlns:a16="http://schemas.microsoft.com/office/drawing/2014/main" id="{0C04CCBF-6C4F-4F95-BB71-C920A45B6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429000"/>
            <a:ext cx="5791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Manrope"/>
              </a:defRPr>
            </a:pPr>
            <a:r>
              <a:rPr sz="1350">
                <a:solidFill>
                  <a:srgbClr val="666666"/>
                </a:solidFill>
                <a:latin typeface="Manrope"/>
              </a:rPr>
              <a:t>Business lead owns a decision-ready brief.</a:t>
            </a:r>
          </a:p>
        </p:txBody>
      </p:sp>
      <p:sp>
        <p:nvSpPr>
          <p:cNvPr id="11" name="content-row-02-rule">
            <a:extLst xmlns:a="http://schemas.openxmlformats.org/drawingml/2006/main">
              <a:ext uri="{FF2B5EF4-FFF2-40B4-BE49-F238E27FC236}">
                <a16:creationId xmlns:a16="http://schemas.microsoft.com/office/drawing/2014/main" id="{80CD5A9A-F3CA-49D8-8E14-E45721BA9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243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1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ontent-row-03-number">
            <a:extLst xmlns:a="http://schemas.openxmlformats.org/drawingml/2006/main">
              <a:ext uri="{FF2B5EF4-FFF2-40B4-BE49-F238E27FC236}">
                <a16:creationId xmlns:a16="http://schemas.microsoft.com/office/drawing/2014/main" id="{7E85409F-724E-42FC-9A7F-8D94AA697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4820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3C1AE"/>
                </a:solidFill>
                <a:latin typeface="Manrope"/>
              </a:defRPr>
            </a:pPr>
            <a:r>
              <a:rPr sz="1350" b="1">
                <a:solidFill>
                  <a:srgbClr val="73C1AE"/>
                </a:solidFill>
                <a:latin typeface="Manrope"/>
              </a:rPr>
              <a:t>03</a:t>
            </a:r>
          </a:p>
        </p:txBody>
      </p:sp>
      <p:sp>
        <p:nvSpPr>
          <p:cNvPr id="13" name="content-row-03-heading">
            <a:extLst xmlns:a="http://schemas.openxmlformats.org/drawingml/2006/main">
              <a:ext uri="{FF2B5EF4-FFF2-40B4-BE49-F238E27FC236}">
                <a16:creationId xmlns:a16="http://schemas.microsoft.com/office/drawing/2014/main" id="{1189077E-4296-4A0C-BA27-54A79EC26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648200"/>
            <a:ext cx="352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92332"/>
                </a:solidFill>
                <a:latin typeface="Manrope"/>
              </a:defRPr>
            </a:pPr>
            <a:r>
              <a:rPr sz="1650" b="1">
                <a:solidFill>
                  <a:srgbClr val="192332"/>
                </a:solidFill>
                <a:latin typeface="Manrope"/>
              </a:rPr>
              <a:t>Delivery follow-up</a:t>
            </a:r>
          </a:p>
        </p:txBody>
      </p:sp>
      <p:sp>
        <p:nvSpPr>
          <p:cNvPr id="14" name="content-row-03-body">
            <a:extLst xmlns:a="http://schemas.openxmlformats.org/drawingml/2006/main">
              <a:ext uri="{FF2B5EF4-FFF2-40B4-BE49-F238E27FC236}">
                <a16:creationId xmlns:a16="http://schemas.microsoft.com/office/drawing/2014/main" id="{86EC748B-6D54-458C-AF53-4672C2389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648200"/>
            <a:ext cx="5791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Manrope"/>
              </a:defRPr>
            </a:pPr>
            <a:r>
              <a:rPr sz="1350">
                <a:solidFill>
                  <a:srgbClr val="666666"/>
                </a:solidFill>
                <a:latin typeface="Manrope"/>
              </a:rPr>
              <a:t>Service owner owns a completion receipt.</a:t>
            </a:r>
          </a:p>
        </p:txBody>
      </p:sp>
      <p:sp>
        <p:nvSpPr>
          <p:cNvPr id="15" name="content-row-03-rule">
            <a:extLst xmlns:a="http://schemas.openxmlformats.org/drawingml/2006/main">
              <a:ext uri="{FF2B5EF4-FFF2-40B4-BE49-F238E27FC236}">
                <a16:creationId xmlns:a16="http://schemas.microsoft.com/office/drawing/2014/main" id="{E27D72FA-74BD-4191-9FF1-F4F758C2A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435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1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ooter-wordmark-1.0.0">
            <a:extLst xmlns:a="http://schemas.openxmlformats.org/drawingml/2006/main">
              <a:ext uri="{FF2B5EF4-FFF2-40B4-BE49-F238E27FC236}">
                <a16:creationId xmlns:a16="http://schemas.microsoft.com/office/drawing/2014/main" id="{DD195CB1-2344-4B00-BD30-E1FA65DF7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3627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5A5A5"/>
                </a:solidFill>
                <a:latin typeface="IBM Plex Mono"/>
              </a:defRPr>
            </a:pPr>
            <a:r>
              <a:rPr sz="900" b="1">
                <a:solidFill>
                  <a:srgbClr val="A5A5A5"/>
                </a:solidFill>
                <a:latin typeface="IBM Plex Mono"/>
              </a:rPr>
              <a:t>MASLOW AI</a:t>
            </a:r>
          </a:p>
        </p:txBody>
      </p:sp>
      <p:sp>
        <p:nvSpPr>
          <p:cNvPr id="17" name="footer-folio-1.0.0">
            <a:extLst xmlns:a="http://schemas.openxmlformats.org/drawingml/2006/main">
              <a:ext uri="{FF2B5EF4-FFF2-40B4-BE49-F238E27FC236}">
                <a16:creationId xmlns:a16="http://schemas.microsoft.com/office/drawing/2014/main" id="{BF1D997F-8C0D-4E79-B56E-F2045C6AB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63627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A5A5A5"/>
                </a:solidFill>
                <a:latin typeface="IBM Plex Mono"/>
              </a:defRPr>
            </a:pPr>
            <a:r>
              <a:rPr sz="825">
                <a:solidFill>
                  <a:srgbClr val="A5A5A5"/>
                </a:solidFill>
                <a:latin typeface="IBM Plex Mono"/>
              </a:rPr>
              <a:t>MASLOW AI · 1.0.0</a:t>
            </a:r>
          </a:p>
        </p:txBody>
      </p:sp>
    </p:spTree>
    <p:extLst>
      <p:ext uri="{BB962C8B-B14F-4D97-AF65-F5344CB8AC3E}">
        <p14:creationId xmlns:p14="http://schemas.microsoft.com/office/powerpoint/2010/main" val="20477657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21D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vidence-eyebrow">
            <a:extLst xmlns:a="http://schemas.openxmlformats.org/drawingml/2006/main">
              <a:ext uri="{FF2B5EF4-FFF2-40B4-BE49-F238E27FC236}">
                <a16:creationId xmlns:a16="http://schemas.microsoft.com/office/drawing/2014/main" id="{8857A4A1-84C0-4AEC-8CD7-FEBF72BE7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96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73C1AE"/>
                </a:solidFill>
                <a:latin typeface="IBM Plex Mono"/>
              </a:defRPr>
            </a:pPr>
            <a:r>
              <a:rPr sz="975" b="1">
                <a:solidFill>
                  <a:srgbClr val="73C1AE"/>
                </a:solidFill>
                <a:latin typeface="IBM Plex Mono"/>
              </a:rPr>
              <a:t>01 · EVIDENCE</a:t>
            </a:r>
          </a:p>
        </p:txBody>
      </p:sp>
      <p:sp>
        <p:nvSpPr>
          <p:cNvPr id="2" name="evidence-heading">
            <a:extLst xmlns:a="http://schemas.openxmlformats.org/drawingml/2006/main">
              <a:ext uri="{FF2B5EF4-FFF2-40B4-BE49-F238E27FC236}">
                <a16:creationId xmlns:a16="http://schemas.microsoft.com/office/drawing/2014/main" id="{AB224822-78A4-4710-87D1-BC8E1EB4F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028700"/>
            <a:ext cx="9810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Manrope"/>
              </a:defRPr>
            </a:pPr>
            <a:r>
              <a:rPr sz="3000" b="1">
                <a:solidFill>
                  <a:srgbClr val="FFFFFF"/>
                </a:solidFill>
                <a:latin typeface="Manrope"/>
              </a:rPr>
              <a:t>Workflow ownership and evidence</a:t>
            </a:r>
          </a:p>
        </p:txBody>
      </p:sp>
      <p:sp>
        <p:nvSpPr>
          <p:cNvPr id="3" name="evidence-ONE-rule">
            <a:extLst xmlns:a="http://schemas.openxmlformats.org/drawingml/2006/main">
              <a:ext uri="{FF2B5EF4-FFF2-40B4-BE49-F238E27FC236}">
                <a16:creationId xmlns:a16="http://schemas.microsoft.com/office/drawing/2014/main" id="{EE592CC6-D40B-4B24-A2AD-E0026668A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A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vidence-ONE-value">
            <a:extLst xmlns:a="http://schemas.openxmlformats.org/drawingml/2006/main">
              <a:ext uri="{FF2B5EF4-FFF2-40B4-BE49-F238E27FC236}">
                <a16:creationId xmlns:a16="http://schemas.microsoft.com/office/drawing/2014/main" id="{0A9BF385-69BA-4709-AA9D-9F072BFCD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908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73C1AE"/>
                </a:solidFill>
                <a:latin typeface="Manrope"/>
              </a:defRPr>
            </a:pPr>
            <a:r>
              <a:rPr sz="2850">
                <a:solidFill>
                  <a:srgbClr val="73C1AE"/>
                </a:solidFill>
                <a:latin typeface="Manrope"/>
              </a:rPr>
              <a:t>ASSIGNED</a:t>
            </a:r>
          </a:p>
        </p:txBody>
      </p:sp>
      <p:sp>
        <p:nvSpPr>
          <p:cNvPr id="5" name="evidence-ONE-claim">
            <a:extLst xmlns:a="http://schemas.openxmlformats.org/drawingml/2006/main">
              <a:ext uri="{FF2B5EF4-FFF2-40B4-BE49-F238E27FC236}">
                <a16:creationId xmlns:a16="http://schemas.microsoft.com/office/drawing/2014/main" id="{DC645109-A478-4F08-B321-097C9C20D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FFFFF"/>
                </a:solidFill>
                <a:latin typeface="Manrope"/>
              </a:defRPr>
            </a:pPr>
            <a:r>
              <a:rPr sz="1425">
                <a:solidFill>
                  <a:srgbClr val="FFFFFF"/>
                </a:solidFill>
                <a:latin typeface="Manrope"/>
              </a:rPr>
              <a:t>A named owner receives the waiting work.</a:t>
            </a:r>
          </a:p>
        </p:txBody>
      </p:sp>
      <p:sp>
        <p:nvSpPr>
          <p:cNvPr id="6" name="evidence-ONE-source">
            <a:extLst xmlns:a="http://schemas.openxmlformats.org/drawingml/2006/main">
              <a:ext uri="{FF2B5EF4-FFF2-40B4-BE49-F238E27FC236}">
                <a16:creationId xmlns:a16="http://schemas.microsoft.com/office/drawing/2014/main" id="{400A246A-ACF1-43FE-8E74-72F7D1B01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625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B8C4D9"/>
                </a:solidFill>
                <a:latin typeface="IBM Plex Mono"/>
              </a:defRPr>
            </a:pPr>
            <a:r>
              <a:rPr sz="825">
                <a:solidFill>
                  <a:srgbClr val="B8C4D9"/>
                </a:solidFill>
                <a:latin typeface="IBM Plex Mono"/>
              </a:rPr>
              <a:t>ILLUSTRATIVE · EXAMPLE ONLY</a:t>
            </a:r>
          </a:p>
        </p:txBody>
      </p:sp>
      <p:sp>
        <p:nvSpPr>
          <p:cNvPr id="7" name="evidence-TWO-rule">
            <a:extLst xmlns:a="http://schemas.openxmlformats.org/drawingml/2006/main">
              <a:ext uri="{FF2B5EF4-FFF2-40B4-BE49-F238E27FC236}">
                <a16:creationId xmlns:a16="http://schemas.microsoft.com/office/drawing/2014/main" id="{BEF70166-0672-4C49-B763-4BAD07850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2479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A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evidence-TWO-value">
            <a:extLst xmlns:a="http://schemas.openxmlformats.org/drawingml/2006/main">
              <a:ext uri="{FF2B5EF4-FFF2-40B4-BE49-F238E27FC236}">
                <a16:creationId xmlns:a16="http://schemas.microsoft.com/office/drawing/2014/main" id="{8ED04079-9CCB-4F18-8174-5ECF01EDE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908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A070A6"/>
                </a:solidFill>
                <a:latin typeface="Manrope"/>
              </a:defRPr>
            </a:pPr>
            <a:r>
              <a:rPr sz="2850">
                <a:solidFill>
                  <a:srgbClr val="A070A6"/>
                </a:solidFill>
                <a:latin typeface="Manrope"/>
              </a:rPr>
              <a:t>REVIEW GATE</a:t>
            </a:r>
          </a:p>
        </p:txBody>
      </p:sp>
      <p:sp>
        <p:nvSpPr>
          <p:cNvPr id="9" name="evidence-TWO-claim">
            <a:extLst xmlns:a="http://schemas.openxmlformats.org/drawingml/2006/main">
              <a:ext uri="{FF2B5EF4-FFF2-40B4-BE49-F238E27FC236}">
                <a16:creationId xmlns:a16="http://schemas.microsoft.com/office/drawing/2014/main" id="{A7403A84-1DC7-4264-96DF-ED236AAA6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6385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FFFFF"/>
                </a:solidFill>
                <a:latin typeface="Manrope"/>
              </a:defRPr>
            </a:pPr>
            <a:r>
              <a:rPr sz="1425">
                <a:solidFill>
                  <a:srgbClr val="FFFFFF"/>
                </a:solidFill>
                <a:latin typeface="Manrope"/>
              </a:rPr>
              <a:t>A human keeps the consequential decision.</a:t>
            </a:r>
          </a:p>
        </p:txBody>
      </p:sp>
      <p:sp>
        <p:nvSpPr>
          <p:cNvPr id="10" name="evidence-TWO-source">
            <a:extLst xmlns:a="http://schemas.openxmlformats.org/drawingml/2006/main">
              <a:ext uri="{FF2B5EF4-FFF2-40B4-BE49-F238E27FC236}">
                <a16:creationId xmlns:a16="http://schemas.microsoft.com/office/drawing/2014/main" id="{C34F0BB8-10E5-47CF-B33D-4FC0C1220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7625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B8C4D9"/>
                </a:solidFill>
                <a:latin typeface="IBM Plex Mono"/>
              </a:defRPr>
            </a:pPr>
            <a:r>
              <a:rPr sz="825">
                <a:solidFill>
                  <a:srgbClr val="B8C4D9"/>
                </a:solidFill>
                <a:latin typeface="IBM Plex Mono"/>
              </a:rPr>
              <a:t>ILLUSTRATIVE · EXAMPLE ONLY</a:t>
            </a:r>
          </a:p>
        </p:txBody>
      </p:sp>
      <p:sp>
        <p:nvSpPr>
          <p:cNvPr id="11" name="evidence-THREE-rule">
            <a:extLst xmlns:a="http://schemas.openxmlformats.org/drawingml/2006/main">
              <a:ext uri="{FF2B5EF4-FFF2-40B4-BE49-F238E27FC236}">
                <a16:creationId xmlns:a16="http://schemas.microsoft.com/office/drawing/2014/main" id="{092E61A8-29E8-423B-8187-339F49D8B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479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A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evidence-THREE-value">
            <a:extLst xmlns:a="http://schemas.openxmlformats.org/drawingml/2006/main">
              <a:ext uri="{FF2B5EF4-FFF2-40B4-BE49-F238E27FC236}">
                <a16:creationId xmlns:a16="http://schemas.microsoft.com/office/drawing/2014/main" id="{E9B17FAB-A230-4C25-9630-A1A02A847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908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FFF860"/>
                </a:solidFill>
                <a:latin typeface="Manrope"/>
              </a:defRPr>
            </a:pPr>
            <a:r>
              <a:rPr sz="2850">
                <a:solidFill>
                  <a:srgbClr val="FFF860"/>
                </a:solidFill>
                <a:latin typeface="Manrope"/>
              </a:rPr>
              <a:t>RECEIPT</a:t>
            </a:r>
          </a:p>
        </p:txBody>
      </p:sp>
      <p:sp>
        <p:nvSpPr>
          <p:cNvPr id="13" name="evidence-THREE-claim">
            <a:extLst xmlns:a="http://schemas.openxmlformats.org/drawingml/2006/main">
              <a:ext uri="{FF2B5EF4-FFF2-40B4-BE49-F238E27FC236}">
                <a16:creationId xmlns:a16="http://schemas.microsoft.com/office/drawing/2014/main" id="{64A232A6-3C64-4D45-BA85-E41ECD2B1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385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FFFFF"/>
                </a:solidFill>
                <a:latin typeface="Manrope"/>
              </a:defRPr>
            </a:pPr>
            <a:r>
              <a:rPr sz="1425">
                <a:solidFill>
                  <a:srgbClr val="FFFFFF"/>
                </a:solidFill>
                <a:latin typeface="Manrope"/>
              </a:rPr>
              <a:t>The workflow records its final deliverable.</a:t>
            </a:r>
          </a:p>
        </p:txBody>
      </p:sp>
      <p:sp>
        <p:nvSpPr>
          <p:cNvPr id="14" name="evidence-THREE-source">
            <a:extLst xmlns:a="http://schemas.openxmlformats.org/drawingml/2006/main">
              <a:ext uri="{FF2B5EF4-FFF2-40B4-BE49-F238E27FC236}">
                <a16:creationId xmlns:a16="http://schemas.microsoft.com/office/drawing/2014/main" id="{AFDC3DCD-ACF0-40E7-85C9-84C23AF6E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625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B8C4D9"/>
                </a:solidFill>
                <a:latin typeface="IBM Plex Mono"/>
              </a:defRPr>
            </a:pPr>
            <a:r>
              <a:rPr sz="825">
                <a:solidFill>
                  <a:srgbClr val="B8C4D9"/>
                </a:solidFill>
                <a:latin typeface="IBM Plex Mono"/>
              </a:rPr>
              <a:t>ILLUSTRATIVE · EXAMPLE ONLY</a:t>
            </a:r>
          </a:p>
        </p:txBody>
      </p:sp>
      <p:sp>
        <p:nvSpPr>
          <p:cNvPr id="15" name="footer-wordmark-1.0.0">
            <a:extLst xmlns:a="http://schemas.openxmlformats.org/drawingml/2006/main">
              <a:ext uri="{FF2B5EF4-FFF2-40B4-BE49-F238E27FC236}">
                <a16:creationId xmlns:a16="http://schemas.microsoft.com/office/drawing/2014/main" id="{2D0EEC48-BCFF-44D2-BFA8-929AFB6B3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3627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4D9"/>
                </a:solidFill>
                <a:latin typeface="IBM Plex Mono"/>
              </a:defRPr>
            </a:pPr>
            <a:r>
              <a:rPr sz="900" b="1">
                <a:solidFill>
                  <a:srgbClr val="B8C4D9"/>
                </a:solidFill>
                <a:latin typeface="IBM Plex Mono"/>
              </a:rPr>
              <a:t>MASLOW AI</a:t>
            </a:r>
          </a:p>
        </p:txBody>
      </p:sp>
      <p:sp>
        <p:nvSpPr>
          <p:cNvPr id="16" name="footer-folio-1.0.0">
            <a:extLst xmlns:a="http://schemas.openxmlformats.org/drawingml/2006/main">
              <a:ext uri="{FF2B5EF4-FFF2-40B4-BE49-F238E27FC236}">
                <a16:creationId xmlns:a16="http://schemas.microsoft.com/office/drawing/2014/main" id="{C8477759-A4B8-46B1-ACD4-680534F17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63627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B8C4D9"/>
                </a:solidFill>
                <a:latin typeface="IBM Plex Mono"/>
              </a:defRPr>
            </a:pPr>
            <a:r>
              <a:rPr sz="825">
                <a:solidFill>
                  <a:srgbClr val="B8C4D9"/>
                </a:solidFill>
                <a:latin typeface="IBM Plex Mono"/>
              </a:rPr>
              <a:t>MASLOW AI · 1.0.0</a:t>
            </a:r>
          </a:p>
        </p:txBody>
      </p:sp>
    </p:spTree>
    <p:extLst>
      <p:ext uri="{BB962C8B-B14F-4D97-AF65-F5344CB8AC3E}">
        <p14:creationId xmlns:p14="http://schemas.microsoft.com/office/powerpoint/2010/main" val="605495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uote-mark">
            <a:extLst xmlns:a="http://schemas.openxmlformats.org/drawingml/2006/main">
              <a:ext uri="{FF2B5EF4-FFF2-40B4-BE49-F238E27FC236}">
                <a16:creationId xmlns:a16="http://schemas.microsoft.com/office/drawing/2014/main" id="{3E4B8393-2793-4CFD-BF39-CBAC73561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24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900" b="1">
                <a:solidFill>
                  <a:srgbClr val="73C1AE"/>
                </a:solidFill>
                <a:latin typeface="Manrope"/>
              </a:defRPr>
            </a:pPr>
            <a:r>
              <a:rPr sz="6900" b="1">
                <a:solidFill>
                  <a:srgbClr val="73C1AE"/>
                </a:solidFill>
                <a:latin typeface="Manrope"/>
              </a:rPr>
              <a:t>“</a:t>
            </a:r>
          </a:p>
        </p:txBody>
      </p:sp>
      <p:sp>
        <p:nvSpPr>
          <p:cNvPr id="2" name="quote-text">
            <a:extLst xmlns:a="http://schemas.openxmlformats.org/drawingml/2006/main">
              <a:ext uri="{FF2B5EF4-FFF2-40B4-BE49-F238E27FC236}">
                <a16:creationId xmlns:a16="http://schemas.microsoft.com/office/drawing/2014/main" id="{680DDC9A-43A0-466B-BBB8-33C66E536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66950"/>
            <a:ext cx="9525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92332"/>
                </a:solidFill>
                <a:latin typeface="Manrope"/>
              </a:defRPr>
            </a:pPr>
            <a:r>
              <a:rPr sz="2700" b="1">
                <a:solidFill>
                  <a:srgbClr val="192332"/>
                </a:solidFill>
                <a:latin typeface="Manrope"/>
              </a:rPr>
              <a:t>An illustrative customer-voice pattern for layout testing only.</a:t>
            </a:r>
          </a:p>
        </p:txBody>
      </p:sp>
      <p:sp>
        <p:nvSpPr>
          <p:cNvPr id="3" name="quote-attribution">
            <a:extLst xmlns:a="http://schemas.openxmlformats.org/drawingml/2006/main">
              <a:ext uri="{FF2B5EF4-FFF2-40B4-BE49-F238E27FC236}">
                <a16:creationId xmlns:a16="http://schemas.microsoft.com/office/drawing/2014/main" id="{9BDF5853-0C30-43D1-91F1-A49092DC2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2440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Manrope"/>
              </a:defRPr>
            </a:pPr>
            <a:r>
              <a:rPr sz="1200">
                <a:solidFill>
                  <a:srgbClr val="666666"/>
                </a:solidFill>
                <a:latin typeface="Manrope"/>
              </a:rPr>
              <a:t>Illustrative, not a customer testimonial</a:t>
            </a:r>
          </a:p>
        </p:txBody>
      </p:sp>
      <p:sp>
        <p:nvSpPr>
          <p:cNvPr id="4" name="quote-source">
            <a:extLst xmlns:a="http://schemas.openxmlformats.org/drawingml/2006/main">
              <a:ext uri="{FF2B5EF4-FFF2-40B4-BE49-F238E27FC236}">
                <a16:creationId xmlns:a16="http://schemas.microsoft.com/office/drawing/2014/main" id="{CDC85B93-36D7-4619-9AA4-CE5C95571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6255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54C8F"/>
                </a:solidFill>
                <a:latin typeface="IBM Plex Mono"/>
              </a:defRPr>
            </a:pPr>
            <a:r>
              <a:rPr sz="825">
                <a:solidFill>
                  <a:srgbClr val="654C8F"/>
                </a:solidFill>
                <a:latin typeface="IBM Plex Mono"/>
              </a:rPr>
              <a:t>ILLUSTRATIVE · BRAND OS BLIND-BUILD FIXTURE</a:t>
            </a:r>
          </a:p>
        </p:txBody>
      </p:sp>
    </p:spTree>
    <p:extLst>
      <p:ext uri="{BB962C8B-B14F-4D97-AF65-F5344CB8AC3E}">
        <p14:creationId xmlns:p14="http://schemas.microsoft.com/office/powerpoint/2010/main" val="116201586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Maslow AI mark" title="Maslow AI mark in navy" descr="Maslow AI mark in navy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ed114441fe4953"/>
          <a:stretch xmlns:a="http://schemas.openxmlformats.org/drawingml/2006/main"/>
        </p:blipFill>
        <p:spPr>
          <a:xfrm xmlns:a="http://schemas.openxmlformats.org/drawingml/2006/main">
            <a:off x="876300" y="556016"/>
            <a:ext cx="876300" cy="583419"/>
          </a:xfrm>
          <a:prstGeom xmlns:a="http://schemas.openxmlformats.org/drawingml/2006/main" prst="rect">
            <a:avLst/>
          </a:prstGeom>
        </p:spPr>
      </p:pic>
      <p:sp>
        <p:nvSpPr>
          <p:cNvPr id="2" name="logo-label-light">
            <a:extLst xmlns:a="http://schemas.openxmlformats.org/drawingml/2006/main">
              <a:ext uri="{FF2B5EF4-FFF2-40B4-BE49-F238E27FC236}">
                <a16:creationId xmlns:a16="http://schemas.microsoft.com/office/drawing/2014/main" id="{9243FCD3-4818-42B2-B733-FB61B253B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7048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92332"/>
                </a:solidFill>
                <a:latin typeface="IBM Plex Mono"/>
              </a:defRPr>
            </a:pPr>
            <a:r>
              <a:rPr sz="900" b="1">
                <a:solidFill>
                  <a:srgbClr val="192332"/>
                </a:solidFill>
                <a:latin typeface="IBM Plex Mono"/>
              </a:rPr>
              <a:t>MASLOW AI</a:t>
            </a:r>
          </a:p>
        </p:txBody>
      </p:sp>
      <p:sp>
        <p:nvSpPr>
          <p:cNvPr id="3" name="closing-heading">
            <a:extLst xmlns:a="http://schemas.openxmlformats.org/drawingml/2006/main">
              <a:ext uri="{FF2B5EF4-FFF2-40B4-BE49-F238E27FC236}">
                <a16:creationId xmlns:a16="http://schemas.microsoft.com/office/drawing/2014/main" id="{BD6577BE-E055-4971-B4C1-870AD3B84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33600"/>
            <a:ext cx="1000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92332"/>
                </a:solidFill>
                <a:latin typeface="Manrope"/>
              </a:defRPr>
            </a:pPr>
            <a:r>
              <a:rPr sz="3900" b="1">
                <a:solidFill>
                  <a:srgbClr val="192332"/>
                </a:solidFill>
                <a:latin typeface="Manrope"/>
              </a:rPr>
              <a:t>Bring one waiting workflow</a:t>
            </a:r>
          </a:p>
        </p:txBody>
      </p:sp>
      <p:sp>
        <p:nvSpPr>
          <p:cNvPr id="4" name="closing-action">
            <a:extLst xmlns:a="http://schemas.openxmlformats.org/drawingml/2006/main">
              <a:ext uri="{FF2B5EF4-FFF2-40B4-BE49-F238E27FC236}">
                <a16:creationId xmlns:a16="http://schemas.microsoft.com/office/drawing/2014/main" id="{5A092CE0-7484-4904-8315-F808301C8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38600"/>
            <a:ext cx="4000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3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losing-action-label">
            <a:extLst xmlns:a="http://schemas.openxmlformats.org/drawingml/2006/main">
              <a:ext uri="{FF2B5EF4-FFF2-40B4-BE49-F238E27FC236}">
                <a16:creationId xmlns:a16="http://schemas.microsoft.com/office/drawing/2014/main" id="{520606EC-CB03-46D1-9FC0-B1B85538B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481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IBM Plex Mono"/>
              </a:defRPr>
            </a:pPr>
            <a:r>
              <a:rPr sz="1200" b="1">
                <a:solidFill>
                  <a:srgbClr val="FFFFFF"/>
                </a:solidFill>
                <a:latin typeface="IBM Plex Mono"/>
              </a:rPr>
              <a:t>BOOK A WORKING SESSION</a:t>
            </a:r>
          </a:p>
        </p:txBody>
      </p:sp>
      <p:sp>
        <p:nvSpPr>
          <p:cNvPr id="6" name="closing-action-signal">
            <a:extLst xmlns:a="http://schemas.openxmlformats.org/drawingml/2006/main">
              <a:ext uri="{FF2B5EF4-FFF2-40B4-BE49-F238E27FC236}">
                <a16:creationId xmlns:a16="http://schemas.microsoft.com/office/drawing/2014/main" id="{1E0A8806-7B5A-46AA-B4F2-29A7890E1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86300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7B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losing-contact">
            <a:extLst xmlns:a="http://schemas.openxmlformats.org/drawingml/2006/main">
              <a:ext uri="{FF2B5EF4-FFF2-40B4-BE49-F238E27FC236}">
                <a16:creationId xmlns:a16="http://schemas.microsoft.com/office/drawing/2014/main" id="{8B7792E9-0BFE-44B1-B7CE-286051927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0540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6666"/>
                </a:solidFill>
                <a:latin typeface="IBM Plex Mono"/>
              </a:defRPr>
            </a:pPr>
            <a:r>
              <a:rPr sz="975">
                <a:solidFill>
                  <a:srgbClr val="666666"/>
                </a:solidFill>
                <a:latin typeface="IBM Plex Mono"/>
              </a:rPr>
              <a:t>MASLOW.AI</a:t>
            </a:r>
          </a:p>
        </p:txBody>
      </p:sp>
      <p:sp>
        <p:nvSpPr>
          <p:cNvPr id="8" name="footer-wordmark-1.0.0">
            <a:extLst xmlns:a="http://schemas.openxmlformats.org/drawingml/2006/main">
              <a:ext uri="{FF2B5EF4-FFF2-40B4-BE49-F238E27FC236}">
                <a16:creationId xmlns:a16="http://schemas.microsoft.com/office/drawing/2014/main" id="{ED819426-192B-452A-91F5-211F1A3DB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3627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5A5A5"/>
                </a:solidFill>
                <a:latin typeface="IBM Plex Mono"/>
              </a:defRPr>
            </a:pPr>
            <a:r>
              <a:rPr sz="900" b="1">
                <a:solidFill>
                  <a:srgbClr val="A5A5A5"/>
                </a:solidFill>
                <a:latin typeface="IBM Plex Mono"/>
              </a:rPr>
              <a:t>MASLOW AI</a:t>
            </a:r>
          </a:p>
        </p:txBody>
      </p:sp>
      <p:sp>
        <p:nvSpPr>
          <p:cNvPr id="9" name="footer-folio-1.0.0">
            <a:extLst xmlns:a="http://schemas.openxmlformats.org/drawingml/2006/main">
              <a:ext uri="{FF2B5EF4-FFF2-40B4-BE49-F238E27FC236}">
                <a16:creationId xmlns:a16="http://schemas.microsoft.com/office/drawing/2014/main" id="{08D46F1C-4DF3-40EF-B8C9-53C5A96E7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63627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A5A5A5"/>
                </a:solidFill>
                <a:latin typeface="IBM Plex Mono"/>
              </a:defRPr>
            </a:pPr>
            <a:r>
              <a:rPr sz="825">
                <a:solidFill>
                  <a:srgbClr val="A5A5A5"/>
                </a:solidFill>
                <a:latin typeface="IBM Plex Mono"/>
              </a:rPr>
              <a:t>MASLOW AI · 1.0.0</a:t>
            </a:r>
          </a:p>
        </p:txBody>
      </p:sp>
    </p:spTree>
    <p:extLst>
      <p:ext uri="{BB962C8B-B14F-4D97-AF65-F5344CB8AC3E}">
        <p14:creationId xmlns:p14="http://schemas.microsoft.com/office/powerpoint/2010/main" val="1025825783"/>
      </p:ext>
    </p:extLst>
  </p:cSld>
</p:sld>
</file>

<file path=ppt/theme/theme1.xml><?xml version="1.0" encoding="utf-8"?>
<a:theme xmlns:a="http://schemas.openxmlformats.org/drawingml/2006/main" name="ChatGPT">
  <a:themeElements>
    <a:clrScheme name="Maslow Brand OS 1.0.0">
      <a:dk1>
        <a:srgbClr val="333333"/>
      </a:dk1>
      <a:lt1>
        <a:srgbClr val="FFFFFF"/>
      </a:lt1>
      <a:dk2>
        <a:srgbClr val="121D35"/>
      </a:dk2>
      <a:lt2>
        <a:srgbClr val="E1E1E1"/>
      </a:lt2>
      <a:accent1>
        <a:srgbClr val="192332"/>
      </a:accent1>
      <a:accent2>
        <a:srgbClr val="73C1AE"/>
      </a:accent2>
      <a:accent3>
        <a:srgbClr val="654C8F"/>
      </a:accent3>
      <a:accent4>
        <a:srgbClr val="EBA93D"/>
      </a:accent4>
      <a:accent5>
        <a:srgbClr val="EE7BB3"/>
      </a:accent5>
      <a:accent6>
        <a:srgbClr val="FFF860"/>
      </a:accent6>
      <a:hlink>
        <a:srgbClr val="9D4B8E"/>
      </a:hlink>
      <a:folHlink>
        <a:srgbClr val="654C8F"/>
      </a:folHlink>
    </a:clrScheme>
    <a:fontScheme name="Office">
      <a:majorFont>
        <a:latin typeface="Manrope"/>
        <a:ea typeface="Calibri Light"/>
        <a:cs typeface="Calibri Light"/>
      </a:majorFont>
      <a:minorFont>
        <a:latin typeface="Manrope"/>
        <a:ea typeface="Calibri"/>
        <a:cs typeface="Calibri"/>
      </a:minorFont>
    </a:fontScheme>
    <a:fmtScheme name="Maslow Brand OS 1.0.0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2026-08-19T23:47:14.9700000Z</dcterms:created>
  <dcterms:modified xsi:type="dcterms:W3CDTF">2026-08-19T23:47:14.9700000Z</dcterms:modified>
</coreProperties>
</file>